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5C5C58"/>
                </a:solidFill>
                <a:latin typeface="Calibri"/>
              </a:defRPr>
            </a:pPr>
            <a:r>
              <a:rPr lang="pt-BR" sz="1150" b="0" i="0" u="none" strike="noStrike">
                <a:solidFill>
                  <a:srgbClr val="5C5C58"/>
                </a:solidFill>
                <a:latin typeface="Calibri"/>
              </a:rPr>
              <a:t>Faturamento por estado — top (R$ mil)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Faturamento</c:v>
                </c:pt>
              </c:strCache>
            </c:strRef>
          </c:tx>
          <c:spPr>
            <a:solidFill>
              <a:srgbClr val="17171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5C5C58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Ceará</c:v>
                </c:pt>
                <c:pt idx="1">
                  <c:v>Espírito Santo</c:v>
                </c:pt>
                <c:pt idx="2">
                  <c:v>Goiás</c:v>
                </c:pt>
                <c:pt idx="3">
                  <c:v>Bahia</c:v>
                </c:pt>
                <c:pt idx="4">
                  <c:v>Distrito Federal</c:v>
                </c:pt>
                <c:pt idx="5">
                  <c:v>Paraná</c:v>
                </c:pt>
                <c:pt idx="6">
                  <c:v>Santa Catarina</c:v>
                </c:pt>
                <c:pt idx="7">
                  <c:v>Rio Grande do Sul</c:v>
                </c:pt>
                <c:pt idx="8">
                  <c:v>Minas Gerais</c:v>
                </c:pt>
                <c:pt idx="9">
                  <c:v>Rio de Janeiro</c:v>
                </c:pt>
                <c:pt idx="10">
                  <c:v>São Paulo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8</c:v>
                </c:pt>
                <c:pt idx="6">
                  <c:v>8</c:v>
                </c:pt>
                <c:pt idx="7">
                  <c:v>9</c:v>
                </c:pt>
                <c:pt idx="8">
                  <c:v>18</c:v>
                </c:pt>
                <c:pt idx="9">
                  <c:v>20</c:v>
                </c:pt>
                <c:pt idx="10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6A-42DD-992F-4B4963B8F0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5C5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7E5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C5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5C5C58"/>
                </a:solidFill>
                <a:latin typeface="Calibri"/>
              </a:defRPr>
            </a:pPr>
            <a:r>
              <a:rPr lang="pt-BR" sz="1250" b="0" i="0" u="none" strike="noStrike">
                <a:solidFill>
                  <a:srgbClr val="5C5C58"/>
                </a:solidFill>
                <a:latin typeface="Calibri"/>
              </a:rPr>
              <a:t>Top 10 produtos (R$ mil)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Faturamento</c:v>
                </c:pt>
              </c:strCache>
            </c:strRef>
          </c:tx>
          <c:spPr>
            <a:solidFill>
              <a:srgbClr val="9E3B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5C5C58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Regata Essential OW M</c:v>
                </c:pt>
                <c:pt idx="1">
                  <c:v>Kit Alcinha + Calça + Regata</c:v>
                </c:pt>
                <c:pt idx="2">
                  <c:v>Macacão Neo Preto GG</c:v>
                </c:pt>
                <c:pt idx="3">
                  <c:v>Regata Essential OW P</c:v>
                </c:pt>
                <c:pt idx="4">
                  <c:v>Kit Alcinha + Calça</c:v>
                </c:pt>
                <c:pt idx="5">
                  <c:v>Kit Nadador + Calça + Camiseta</c:v>
                </c:pt>
                <c:pt idx="6">
                  <c:v>Macacão Neo Preto PP</c:v>
                </c:pt>
                <c:pt idx="7">
                  <c:v>Macacão Neo Preto G</c:v>
                </c:pt>
                <c:pt idx="8">
                  <c:v>Macacão Neo Preto P</c:v>
                </c:pt>
                <c:pt idx="9">
                  <c:v>Macacão Neo Preto M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1.9</c:v>
                </c:pt>
                <c:pt idx="1">
                  <c:v>2.5</c:v>
                </c:pt>
                <c:pt idx="2">
                  <c:v>2.6</c:v>
                </c:pt>
                <c:pt idx="3">
                  <c:v>2.9</c:v>
                </c:pt>
                <c:pt idx="4">
                  <c:v>3.5</c:v>
                </c:pt>
                <c:pt idx="5">
                  <c:v>3.5</c:v>
                </c:pt>
                <c:pt idx="6">
                  <c:v>4.0999999999999996</c:v>
                </c:pt>
                <c:pt idx="7">
                  <c:v>6.1</c:v>
                </c:pt>
                <c:pt idx="8">
                  <c:v>10.7</c:v>
                </c:pt>
                <c:pt idx="9">
                  <c:v>12.7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92-4C64-88CB-98B6D32130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C5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7E5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5C5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5C5C58"/>
                </a:solidFill>
                <a:latin typeface="Calibri"/>
              </a:defRPr>
            </a:pPr>
            <a:r>
              <a:rPr lang="pt-BR" sz="1250" b="0" i="0" u="none" strike="noStrike">
                <a:solidFill>
                  <a:srgbClr val="5C5C58"/>
                </a:solidFill>
                <a:latin typeface="Calibri"/>
              </a:rPr>
              <a:t>Faturamento por mês (R$ mil)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Faturamento</c:v>
                </c:pt>
              </c:strCache>
            </c:strRef>
          </c:tx>
          <c:spPr>
            <a:solidFill>
              <a:srgbClr val="9E3B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C5C58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Jun</c:v>
                </c:pt>
                <c:pt idx="1">
                  <c:v>Jul</c:v>
                </c:pt>
                <c:pt idx="2">
                  <c:v>Ago</c:v>
                </c:pt>
                <c:pt idx="3">
                  <c:v>Set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16.7</c:v>
                </c:pt>
                <c:pt idx="1">
                  <c:v>33.1</c:v>
                </c:pt>
                <c:pt idx="2">
                  <c:v>52.34</c:v>
                </c:pt>
                <c:pt idx="3">
                  <c:v>15.63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0A-4A4B-8523-D1AA2480C71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5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5C5C58"/>
                </a:solidFill>
                <a:latin typeface="Calibri"/>
              </a:defRPr>
            </a:pPr>
            <a:r>
              <a:rPr lang="pt-BR" sz="1250" b="0" i="0" u="none" strike="noStrike">
                <a:solidFill>
                  <a:srgbClr val="5C5C58"/>
                </a:solidFill>
                <a:latin typeface="Calibri"/>
              </a:rPr>
              <a:t>Projeção — próximos 3 meses (R$ mil)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Realizado</c:v>
                </c:pt>
              </c:strCache>
            </c:strRef>
          </c:tx>
          <c:spPr>
            <a:solidFill>
              <a:srgbClr val="17171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C5C58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Jun</c:v>
                </c:pt>
                <c:pt idx="1">
                  <c:v>Jul</c:v>
                </c:pt>
                <c:pt idx="2">
                  <c:v>Ago</c:v>
                </c:pt>
                <c:pt idx="3">
                  <c:v>Set</c:v>
                </c:pt>
                <c:pt idx="4">
                  <c:v>Out</c:v>
                </c:pt>
                <c:pt idx="5">
                  <c:v>Nov</c:v>
                </c:pt>
                <c:pt idx="6">
                  <c:v>Dez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16.7</c:v>
                </c:pt>
                <c:pt idx="1">
                  <c:v>33.1</c:v>
                </c:pt>
                <c:pt idx="2">
                  <c:v>52.34</c:v>
                </c:pt>
                <c:pt idx="3">
                  <c:v>15.63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2F-4926-9ED1-0AAD01BFA5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Projeção (+77%/mês)</c:v>
                </c:pt>
              </c:strCache>
            </c:strRef>
          </c:tx>
          <c:spPr>
            <a:solidFill>
              <a:srgbClr val="9E3B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C5C58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Jun</c:v>
                </c:pt>
                <c:pt idx="1">
                  <c:v>Jul</c:v>
                </c:pt>
                <c:pt idx="2">
                  <c:v>Ago</c:v>
                </c:pt>
                <c:pt idx="3">
                  <c:v>Set</c:v>
                </c:pt>
                <c:pt idx="4">
                  <c:v>Out</c:v>
                </c:pt>
                <c:pt idx="5">
                  <c:v>Nov</c:v>
                </c:pt>
                <c:pt idx="6">
                  <c:v>Dez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4">
                  <c:v>60</c:v>
                </c:pt>
                <c:pt idx="5">
                  <c:v>107</c:v>
                </c:pt>
                <c:pt idx="6">
                  <c:v>189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2F-4926-9ED1-0AAD01BFA5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5C5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5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5C5C58"/>
                </a:solidFill>
                <a:latin typeface="Calibri"/>
              </a:defRPr>
            </a:pPr>
            <a:r>
              <a:rPr lang="pt-BR" sz="1150" b="0" i="0" u="none" strike="noStrike">
                <a:solidFill>
                  <a:srgbClr val="5C5C58"/>
                </a:solidFill>
                <a:latin typeface="Calibri"/>
              </a:rPr>
              <a:t>Participação por canal (R$ mil, jun–set)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717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92A-4366-B0D4-0674A05BAEEE}"/>
              </c:ext>
            </c:extLst>
          </c:dPt>
          <c:dPt>
            <c:idx val="1"/>
            <c:bubble3D val="0"/>
            <c:spPr>
              <a:solidFill>
                <a:srgbClr val="9E3B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92A-4366-B0D4-0674A05BAEEE}"/>
              </c:ext>
            </c:extLst>
          </c:dPt>
          <c:dPt>
            <c:idx val="2"/>
            <c:bubble3D val="0"/>
            <c:spPr>
              <a:solidFill>
                <a:srgbClr val="E7E5D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92A-4366-B0D4-0674A05BAEEE}"/>
              </c:ext>
            </c:extLst>
          </c:dPt>
          <c:dPt>
            <c:idx val="3"/>
            <c:bubble3D val="0"/>
            <c:spPr>
              <a:solidFill>
                <a:srgbClr val="5C5C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92A-4366-B0D4-0674A05BAEEE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F92A-4366-B0D4-0674A05BAEEE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F92A-4366-B0D4-0674A05BAEEE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F92A-4366-B0D4-0674A05BAEEE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F92A-4366-B0D4-0674A05BAEEE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Outlet Cachoeira</c:v>
                </c:pt>
                <c:pt idx="1">
                  <c:v>Site Kabak</c:v>
                </c:pt>
                <c:pt idx="2">
                  <c:v>Kabak Santa Rita</c:v>
                </c:pt>
                <c:pt idx="3">
                  <c:v>Shopee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</c:v>
                </c:pt>
                <c:pt idx="1">
                  <c:v>170</c:v>
                </c:pt>
                <c:pt idx="2">
                  <c:v>160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92A-4366-B0D4-0674A05BAE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5C5C58"/>
                </a:solidFill>
                <a:latin typeface="Calibri"/>
              </a:defRPr>
            </a:pPr>
            <a:r>
              <a:rPr lang="pt-BR" sz="1150" b="0" i="0" u="none" strike="noStrike">
                <a:solidFill>
                  <a:srgbClr val="5C5C58"/>
                </a:solidFill>
                <a:latin typeface="Calibri"/>
              </a:rPr>
              <a:t>Faturamento consolidado por mês (R$ mil)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Realizado</c:v>
                </c:pt>
              </c:strCache>
            </c:strRef>
          </c:tx>
          <c:spPr>
            <a:solidFill>
              <a:srgbClr val="17171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5C5C58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Jun</c:v>
                </c:pt>
                <c:pt idx="1">
                  <c:v>Jul</c:v>
                </c:pt>
                <c:pt idx="2">
                  <c:v>Ago</c:v>
                </c:pt>
                <c:pt idx="3">
                  <c:v>Set</c:v>
                </c:pt>
                <c:pt idx="4">
                  <c:v>Out</c:v>
                </c:pt>
                <c:pt idx="5">
                  <c:v>Nov</c:v>
                </c:pt>
                <c:pt idx="6">
                  <c:v>Dez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178.71</c:v>
                </c:pt>
                <c:pt idx="1">
                  <c:v>180.03</c:v>
                </c:pt>
                <c:pt idx="2">
                  <c:v>269.44</c:v>
                </c:pt>
                <c:pt idx="3">
                  <c:v>97.35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4-45EC-BFA7-B5E033B548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Projeção (+23%/mês)</c:v>
                </c:pt>
              </c:strCache>
            </c:strRef>
          </c:tx>
          <c:spPr>
            <a:solidFill>
              <a:srgbClr val="9E3B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5C5C58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Jun</c:v>
                </c:pt>
                <c:pt idx="1">
                  <c:v>Jul</c:v>
                </c:pt>
                <c:pt idx="2">
                  <c:v>Ago</c:v>
                </c:pt>
                <c:pt idx="3">
                  <c:v>Set</c:v>
                </c:pt>
                <c:pt idx="4">
                  <c:v>Out</c:v>
                </c:pt>
                <c:pt idx="5">
                  <c:v>Nov</c:v>
                </c:pt>
                <c:pt idx="6">
                  <c:v>Dez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4">
                  <c:v>225</c:v>
                </c:pt>
                <c:pt idx="5">
                  <c:v>277</c:v>
                </c:pt>
                <c:pt idx="6">
                  <c:v>340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B4-45EC-BFA7-B5E033B548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C5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5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C5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2380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KABAK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 e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Acompanhamento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[09/2026]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542032"/>
            <a:ext cx="457200" cy="41148"/>
          </a:xfrm>
          <a:prstGeom prst="rect">
            <a:avLst/>
          </a:prstGeom>
          <a:solidFill>
            <a:srgbClr val="9E3B2E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do tempo da sociedade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463040" y="3566160"/>
            <a:ext cx="9235440" cy="0"/>
          </a:xfrm>
          <a:prstGeom prst="line">
            <a:avLst/>
          </a:prstGeom>
          <a:noFill/>
          <a:ln w="1905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389888" y="3493008"/>
            <a:ext cx="146304" cy="146304"/>
          </a:xfrm>
          <a:prstGeom prst="ellipse">
            <a:avLst/>
          </a:prstGeom>
          <a:solidFill>
            <a:srgbClr val="9E3B2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0292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Jan–Jun/2026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14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Aportes do sócio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(dinheiro e tecido)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68368" y="3493008"/>
            <a:ext cx="146304" cy="146304"/>
          </a:xfrm>
          <a:prstGeom prst="ellipse">
            <a:avLst/>
          </a:prstGeom>
          <a:solidFill>
            <a:srgbClr val="9E3B2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3581400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27/08/2026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535680" y="413308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obra apurada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72.230 peças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46848" y="3493008"/>
            <a:ext cx="146304" cy="146304"/>
          </a:xfrm>
          <a:prstGeom prst="ellipse">
            <a:avLst/>
          </a:prstGeom>
          <a:solidFill>
            <a:srgbClr val="9E3B2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65988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31/08/2026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614160" y="2514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das lojas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625328" y="3493008"/>
            <a:ext cx="146304" cy="146304"/>
          </a:xfrm>
          <a:prstGeom prst="ellipse">
            <a:avLst/>
          </a:prstGeom>
          <a:solidFill>
            <a:srgbClr val="9E3B2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9738360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07/09/2026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692640" y="413308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em SP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em curso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referentes a aportes e apurações de produção/estoque registradas até 07/09/2026. A mão de obra apurada ainda está em </a:t>
            </a:r>
            <a:r>
              <a:rPr lang="en-US" sz="1000" i="1" dirty="0" err="1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r>
              <a:rPr lang="en-US" sz="1000" i="1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</a:t>
            </a:r>
            <a:r>
              <a:rPr lang="en-US" sz="1000" i="1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Samson.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registros de aportes e apurações da sociedade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completo — linha do tempo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de 2 — janeiro a julho de 2026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705772"/>
              </p:ext>
            </p:extLst>
          </p:nvPr>
        </p:nvGraphicFramePr>
        <p:xfrm>
          <a:off x="457200" y="1234440"/>
          <a:ext cx="11274552" cy="5029206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4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30/01/2026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Aporte em dinheiro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R$ 45.000,00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23/03/2026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Aporte em dinheiro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R$ 100.000,00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07/05/2026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 24105 — Light Gym (amostra)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R$ 10.329,72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19/05/2026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 24232 — Light Gym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R$ 163.670,11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21/05/2026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 de sublimação (boleto ao fornecedor)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R$ 68.480,00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02/06/2026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 Peak 1398 — base da coleção nova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bloco abaixo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03/06/2026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 Ativa 024457 — base da coleção nova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bloco abaixo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05/06/2026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 Ativa 024478 — base da coleção nova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bloco abaixo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05/06/2026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 de junho — as 3 NFs acima somadas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R$ 137.866,50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11/06/2026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Apuração de mão de obra de </a:t>
                      </a:r>
                      <a:r>
                        <a:rPr lang="en-US" sz="900" dirty="0" err="1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junho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R$ 319.127,87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12/06/2026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Aporte em dinheiro (Pix) — o último dessa forma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R$ 35.000,00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31/07/2026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Mensalidades da agência (junho + julho)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R$ 100.000,00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registros de aportes e apurações da sociedade — não substitui os documentos originais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completo — linha do tempo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de 2 — agosto e setembro de 2026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221076"/>
              </p:ext>
            </p:extLst>
          </p:nvPr>
        </p:nvGraphicFramePr>
        <p:xfrm>
          <a:off x="457200" y="1234440"/>
          <a:ext cx="11274552" cy="425548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4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Apuração parcial do </a:t>
                      </a:r>
                      <a:r>
                        <a:rPr lang="en-US" sz="900" dirty="0" err="1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costurado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R$ 210.096,70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D9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D9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Apuração que vale — 72.230 peças, 31 produtos, validada por 2 vias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D9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9E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R$ 791.802,75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D9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Tecido de produção, com nota (13 DANFEs)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R$ 574.084,42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Moletom, sem nota — valor construído, sem nota/pesagem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R$ 280.721,10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31/08/2026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Estoque das lojas, a custo — 123.635 peças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R$ 1.560.481,00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31/08/2026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Montagem já feita das lojas — fora dos totais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R$ 60 a 100 mil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31/08/2026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7.091 peças com tecido dele, já separadas na contagem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03/09/2026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Proposta de pagamento da mão de obra em 2 parcelas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R$ 395.901,38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04/09/2026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da 1ª parcela passa, sem registro de pagamento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07/09/2026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Mesa em SP — pede análise da necessidade antes de pagar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Capital, tecido e mão de obra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tecido sozinho não vale o preço da peça pronta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457200" cy="41148"/>
          </a:xfrm>
          <a:prstGeom prst="rect">
            <a:avLst/>
          </a:prstGeom>
          <a:solidFill>
            <a:srgbClr val="9E3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659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4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tecido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14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vendido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R$45 a R$53/kg (valor </a:t>
            </a:r>
            <a:r>
              <a:rPr lang="en-US" sz="14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obtido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pelas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Se o tecido sozinho valesse o preço de uma peça pronta, </a:t>
            </a:r>
            <a:r>
              <a:rPr lang="en-US" sz="14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venderia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rolo por esse </a:t>
            </a:r>
            <a:r>
              <a:rPr lang="en-US" sz="14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paga R$50/kg pelo tecido cru e R$59,90 a R$189,90 por uma peça pronta feita com ele. Essa diferença não é tecido — é mão de obra.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7033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mão de obra, o tecido teria o </a:t>
            </a:r>
            <a:r>
              <a:rPr lang="en-US" sz="14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sempre : matéria-prima cobrada por quilo, não peça de roupa vendida no varejo com margem.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5720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números: R$10,96 de mão de obra, em média, aplicados sobre o tecido resultam em peças vendidas a R$59,90–R$189,90 — de 5x a 17x o valor do insumo.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54406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apuração de R$791.802,75 não é estimativa: validada por duas vias independentes, batendo ao centavo — o mesmo rigor </a:t>
            </a:r>
            <a:r>
              <a:rPr lang="en-US" sz="14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</a:t>
            </a:r>
            <a:r>
              <a:rPr lang="en-US" sz="14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tecido.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registros de aportes, apuração de mão de obra e vendas do período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de obra por linha de produto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do valor devido pela mão de obra — validada por 2 vias independentes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675120" cy="502920"/>
          </a:xfrm>
          <a:prstGeom prst="roundRect">
            <a:avLst>
              <a:gd name="adj" fmla="val 10909"/>
            </a:avLst>
          </a:prstGeom>
          <a:solidFill>
            <a:srgbClr val="E8D9D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85800" y="1371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72.230 peças · 31 produtos · R$ 791.802,75 · média R$ 10,96/peça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apuração de mão de obra (27/08) — Shopify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KABAK</a:t>
            </a:r>
            <a:endParaRPr lang="en-US" sz="10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2011680"/>
          <a:ext cx="11091672" cy="416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Linha de produto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Peças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Mão de obra (R$)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Média por peça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Coleção nova (Sensitive)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18.669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247.730,25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13,27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Linha básica (feminino e UV)</a:t>
                      </a:r>
                    </a:p>
                  </a:txBody>
                  <a:tcPr anchor="ctr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23.434</a:t>
                      </a:r>
                    </a:p>
                  </a:txBody>
                  <a:tcPr anchor="ctr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202.099,04</a:t>
                      </a:r>
                    </a:p>
                  </a:txBody>
                  <a:tcPr anchor="ctr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8,62</a:t>
                      </a:r>
                    </a:p>
                  </a:txBody>
                  <a:tcPr anchor="ctr">
                    <a:solidFill>
                      <a:srgbClr val="F2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Moletom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7.355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110.665,00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15,05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Linha masculina</a:t>
                      </a:r>
                    </a:p>
                  </a:txBody>
                  <a:tcPr anchor="ctr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12.640</a:t>
                      </a:r>
                    </a:p>
                  </a:txBody>
                  <a:tcPr anchor="ctr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104.720,00</a:t>
                      </a:r>
                    </a:p>
                  </a:txBody>
                  <a:tcPr anchor="ctr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8,28</a:t>
                      </a:r>
                    </a:p>
                  </a:txBody>
                  <a:tcPr anchor="ctr">
                    <a:solidFill>
                      <a:srgbClr val="F2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Rib Shine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7.413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74.852,46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10,10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Camélia</a:t>
                      </a:r>
                    </a:p>
                  </a:txBody>
                  <a:tcPr anchor="ctr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1.999</a:t>
                      </a:r>
                    </a:p>
                  </a:txBody>
                  <a:tcPr anchor="ctr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38.426,00</a:t>
                      </a:r>
                    </a:p>
                  </a:txBody>
                  <a:tcPr anchor="ctr">
                    <a:solidFill>
                      <a:srgbClr val="F2F1E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19,22</a:t>
                      </a:r>
                    </a:p>
                  </a:txBody>
                  <a:tcPr anchor="ctr">
                    <a:solidFill>
                      <a:srgbClr val="F2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Soft Flex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720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13.310,00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18,49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71717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>
                    <a:solidFill>
                      <a:srgbClr val="E8D9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71717"/>
                          </a:solidFill>
                          <a:latin typeface="Calibri"/>
                        </a:rPr>
                        <a:t>72.230</a:t>
                      </a:r>
                    </a:p>
                  </a:txBody>
                  <a:tcPr anchor="ctr">
                    <a:solidFill>
                      <a:srgbClr val="E8D9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9E3B2E"/>
                          </a:solidFill>
                          <a:latin typeface="Calibri"/>
                        </a:rPr>
                        <a:t>791.802,75</a:t>
                      </a:r>
                    </a:p>
                  </a:txBody>
                  <a:tcPr anchor="ctr">
                    <a:solidFill>
                      <a:srgbClr val="E8D9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71717"/>
                          </a:solidFill>
                          <a:latin typeface="Calibri"/>
                        </a:rPr>
                        <a:t>10,96</a:t>
                      </a:r>
                    </a:p>
                  </a:txBody>
                  <a:tcPr anchor="ctr">
                    <a:solidFill>
                      <a:srgbClr val="E8D9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Kabak — produtos e geografia</a:t>
            </a:r>
            <a:endParaRPr lang="en-US" sz="2600" dirty="0"/>
          </a:p>
        </p:txBody>
      </p:sp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2331889923"/>
              </p:ext>
            </p:extLst>
          </p:nvPr>
        </p:nvGraphicFramePr>
        <p:xfrm>
          <a:off x="6681177" y="4008139"/>
          <a:ext cx="44805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6537960" y="1066727"/>
            <a:ext cx="4892040" cy="2708103"/>
          </a:xfrm>
          <a:prstGeom prst="roundRect">
            <a:avLst>
              <a:gd name="adj" fmla="val 2222"/>
            </a:avLst>
          </a:prstGeom>
          <a:solidFill>
            <a:srgbClr val="F2F1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Shopify (jan a set/2026)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KABAK</a:t>
            </a:r>
            <a:endParaRPr lang="en-US" sz="10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46EA3DF1-A996-1F5C-2550-A01030AF8437}"/>
              </a:ext>
            </a:extLst>
          </p:cNvPr>
          <p:cNvSpPr/>
          <p:nvPr/>
        </p:nvSpPr>
        <p:spPr>
          <a:xfrm>
            <a:off x="457199" y="1066728"/>
            <a:ext cx="5076093" cy="5288351"/>
          </a:xfrm>
          <a:prstGeom prst="roundRect">
            <a:avLst>
              <a:gd name="adj" fmla="val 1778"/>
            </a:avLst>
          </a:prstGeom>
          <a:solidFill>
            <a:srgbClr val="F2F1ED"/>
          </a:solidFill>
          <a:ln/>
        </p:spPr>
        <p:txBody>
          <a:bodyPr/>
          <a:lstStyle/>
          <a:p>
            <a:endParaRPr lang="pt-BR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128322620"/>
              </p:ext>
            </p:extLst>
          </p:nvPr>
        </p:nvGraphicFramePr>
        <p:xfrm>
          <a:off x="887779" y="1219493"/>
          <a:ext cx="3227021" cy="2407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 6">
            <a:extLst>
              <a:ext uri="{FF2B5EF4-FFF2-40B4-BE49-F238E27FC236}">
                <a16:creationId xmlns:a16="http://schemas.microsoft.com/office/drawing/2014/main" id="{B9ACC168-2297-7CF5-D34D-0D67944C0E59}"/>
              </a:ext>
            </a:extLst>
          </p:cNvPr>
          <p:cNvSpPr txBox="1"/>
          <p:nvPr/>
        </p:nvSpPr>
        <p:spPr>
          <a:xfrm>
            <a:off x="532618" y="3891499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Macacão Neo</a:t>
            </a:r>
            <a:endParaRPr lang="en-US" sz="26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B29A1252-9315-22D2-4CDD-E74FA8BC6B6E}"/>
              </a:ext>
            </a:extLst>
          </p:cNvPr>
          <p:cNvSpPr txBox="1"/>
          <p:nvPr/>
        </p:nvSpPr>
        <p:spPr>
          <a:xfrm>
            <a:off x="532618" y="4662891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R$ 189,90</a:t>
            </a:r>
            <a:endParaRPr lang="en-US" sz="20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0CD57389-50C4-3EAB-6C3F-EC3D8E79E396}"/>
              </a:ext>
            </a:extLst>
          </p:cNvPr>
          <p:cNvSpPr txBox="1"/>
          <p:nvPr/>
        </p:nvSpPr>
        <p:spPr>
          <a:xfrm>
            <a:off x="548640" y="5455627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mão de obra da linha: R$ 13,27/peça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Multiplicação de valor: ~14x sobre a mão de obra</a:t>
            </a:r>
            <a:endParaRPr lang="en-US" sz="1150" dirty="0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1CA00B85-1825-E14B-9F66-DF3D93F891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8471" y="3885088"/>
            <a:ext cx="2554067" cy="2554067"/>
          </a:xfrm>
          <a:prstGeom prst="rect">
            <a:avLst/>
          </a:prstGeom>
        </p:spPr>
      </p:pic>
      <p:sp>
        <p:nvSpPr>
          <p:cNvPr id="29" name="Shape 9">
            <a:extLst>
              <a:ext uri="{FF2B5EF4-FFF2-40B4-BE49-F238E27FC236}">
                <a16:creationId xmlns:a16="http://schemas.microsoft.com/office/drawing/2014/main" id="{B449A850-98D6-D26D-6D01-1DF24C0AC827}"/>
              </a:ext>
            </a:extLst>
          </p:cNvPr>
          <p:cNvSpPr/>
          <p:nvPr/>
        </p:nvSpPr>
        <p:spPr>
          <a:xfrm>
            <a:off x="1180123" y="3786162"/>
            <a:ext cx="3520440" cy="0"/>
          </a:xfrm>
          <a:prstGeom prst="line">
            <a:avLst/>
          </a:prstGeom>
          <a:noFill/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E6DEA47-1B18-8289-16EA-39774D21C9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1914" y="1505182"/>
            <a:ext cx="3524132" cy="19238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Kabak — faturamento e projeção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online (Shopify) — junho a setembro/2026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1468" cy="1051560"/>
          </a:xfrm>
          <a:prstGeom prst="roundRect">
            <a:avLst>
              <a:gd name="adj" fmla="val 6957"/>
            </a:avLst>
          </a:prstGeom>
          <a:solidFill>
            <a:srgbClr val="E7E5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85800" y="1527048"/>
            <a:ext cx="2327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(jun–set)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01368"/>
            <a:ext cx="2327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R$ 117,76 mil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378708" y="1417320"/>
            <a:ext cx="2601468" cy="1051560"/>
          </a:xfrm>
          <a:prstGeom prst="roundRect">
            <a:avLst>
              <a:gd name="adj" fmla="val 6957"/>
            </a:avLst>
          </a:prstGeom>
          <a:solidFill>
            <a:srgbClr val="E7E5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3515868" y="1527048"/>
            <a:ext cx="2327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vendidas (jun–set)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15868" y="1801368"/>
            <a:ext cx="2327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1.048 pç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208776" y="1417320"/>
            <a:ext cx="2601468" cy="1051560"/>
          </a:xfrm>
          <a:prstGeom prst="roundRect">
            <a:avLst>
              <a:gd name="adj" fmla="val 6957"/>
            </a:avLst>
          </a:prstGeom>
          <a:solidFill>
            <a:srgbClr val="E7E5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345936" y="1527048"/>
            <a:ext cx="2327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médio / peça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45936" y="1801368"/>
            <a:ext cx="2327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R$ 10,96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038844" y="1417320"/>
            <a:ext cx="2601468" cy="1051560"/>
          </a:xfrm>
          <a:prstGeom prst="roundRect">
            <a:avLst>
              <a:gd name="adj" fmla="val 6957"/>
            </a:avLst>
          </a:prstGeom>
          <a:solidFill>
            <a:srgbClr val="E7E5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9176004" y="1527048"/>
            <a:ext cx="2327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físico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76004" y="1801368"/>
            <a:ext cx="2327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3.435 pç</a:t>
            </a:r>
            <a:endParaRPr lang="en-US" sz="24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2834640"/>
          <a:ext cx="53949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"/>
          <p:cNvGraphicFramePr/>
          <p:nvPr>
            <p:extLst>
              <p:ext uri="{D42A27DB-BD31-4B8C-83A1-F6EECF244321}">
                <p14:modId xmlns:p14="http://schemas.microsoft.com/office/powerpoint/2010/main" val="548998576"/>
              </p:ext>
            </p:extLst>
          </p:nvPr>
        </p:nvGraphicFramePr>
        <p:xfrm>
          <a:off x="6208775" y="2834640"/>
          <a:ext cx="5647163" cy="3538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548640" y="619963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pela taxa de crescimento real jun→ago (+98,2% e +58,1%, média geométrica +77% ao mês), aplicada sobre a média de ago/set (R$34 mil).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Power BI — Shopify (jun a set/2026)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Lojas físicas — faturamento e equipe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pontos de venda — jun a set/2026 (Bling)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44824" cy="2103120"/>
          </a:xfrm>
          <a:prstGeom prst="roundRect">
            <a:avLst>
              <a:gd name="adj" fmla="val 3478"/>
            </a:avLst>
          </a:prstGeom>
          <a:solidFill>
            <a:srgbClr val="E7E5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Cachoeira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R$ 360 mil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vendedoras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2064" y="1417320"/>
            <a:ext cx="3544824" cy="2103120"/>
          </a:xfrm>
          <a:prstGeom prst="roundRect">
            <a:avLst>
              <a:gd name="adj" fmla="val 3478"/>
            </a:avLst>
          </a:prstGeom>
          <a:solidFill>
            <a:srgbClr val="E7E5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4550664" y="164592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Kabak Santa Rita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50664" y="2103120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R$ 160 mil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50664" y="2788920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50664" y="306324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gerente + 1 vendedora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5488" y="1417320"/>
            <a:ext cx="3544824" cy="2103120"/>
          </a:xfrm>
          <a:prstGeom prst="roundRect">
            <a:avLst>
              <a:gd name="adj" fmla="val 3478"/>
            </a:avLst>
          </a:prstGeom>
          <a:solidFill>
            <a:srgbClr val="E7E5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8324088" y="164592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Kabak Pouso Alegre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24088" y="2103120"/>
            <a:ext cx="3087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Abre em breve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24088" y="2788920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324088" y="306324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gerente + 2 vendedoras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E7E5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685800" y="4087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físico (jun–set)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3616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R$ 520 mil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343400" y="39776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E7E5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4480560" y="4087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funcionários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43616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pessoas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8138160" y="3977640"/>
            <a:ext cx="2953512" cy="1051560"/>
          </a:xfrm>
          <a:prstGeom prst="roundRect">
            <a:avLst>
              <a:gd name="adj" fmla="val 6957"/>
            </a:avLst>
          </a:prstGeom>
          <a:solidFill>
            <a:srgbClr val="E7E5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8275320" y="408736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 ativas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4361688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de 3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Kabak Pouso Alegre ainda não abriu — equipe já definida, faturamento entra no relatório assim que a loja iniciar operação.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Bling (Cachoeira, Santa Rita)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Consolidado — todos os canais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+ lojas físicas + marketplace — jun a set/2026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E7E5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85800" y="1527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total (jun–set)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013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R$ 725,5 mil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429000" y="14173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E7E5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3566160" y="1527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funcionários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8013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confirmados</a:t>
            </a:r>
            <a:endParaRPr lang="en-US" sz="24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4088191856"/>
              </p:ext>
            </p:extLst>
          </p:nvPr>
        </p:nvGraphicFramePr>
        <p:xfrm>
          <a:off x="6126480" y="2651760"/>
          <a:ext cx="53035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"/>
          <p:cNvGraphicFramePr/>
          <p:nvPr/>
        </p:nvGraphicFramePr>
        <p:xfrm>
          <a:off x="548640" y="2651760"/>
          <a:ext cx="55778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548640" y="619963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pela taxa de crescimento real jun→ago (+0,7% e +49,7%, média geométrica +23% ao mês) sobre a média de ago/set (R$183,4 mil).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 de mercado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KABAK</a:t>
            </a:r>
            <a:endParaRPr lang="en-US" sz="1000" dirty="0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413E7B4-7ACF-75DD-70ED-A950A35592CB}"/>
              </a:ext>
            </a:extLst>
          </p:cNvPr>
          <p:cNvSpPr/>
          <p:nvPr/>
        </p:nvSpPr>
        <p:spPr>
          <a:xfrm>
            <a:off x="548640" y="868680"/>
            <a:ext cx="11471422" cy="5394960"/>
          </a:xfrm>
          <a:prstGeom prst="rect">
            <a:avLst/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34F451-F3F7-15FF-1AC0-D8BF1AAD7BC2}"/>
              </a:ext>
            </a:extLst>
          </p:cNvPr>
          <p:cNvSpPr txBox="1"/>
          <p:nvPr/>
        </p:nvSpPr>
        <p:spPr>
          <a:xfrm>
            <a:off x="636563" y="891540"/>
            <a:ext cx="4050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5C5C58"/>
                </a:solidFill>
                <a:latin typeface="Calibri"/>
              </a:rPr>
              <a:t>Caso de </a:t>
            </a:r>
            <a:r>
              <a:rPr sz="1150" b="0" i="0" dirty="0" err="1">
                <a:solidFill>
                  <a:srgbClr val="5C5C58"/>
                </a:solidFill>
                <a:latin typeface="Calibri"/>
              </a:rPr>
              <a:t>sucesso</a:t>
            </a:r>
            <a:endParaRPr sz="1150" b="0" i="0" dirty="0">
              <a:solidFill>
                <a:srgbClr val="5C5C58"/>
              </a:solidFill>
              <a:latin typeface="Calibri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20B7FA86-75C3-B7B8-4106-BCF66CF862F2}"/>
              </a:ext>
            </a:extLst>
          </p:cNvPr>
          <p:cNvSpPr txBox="1"/>
          <p:nvPr/>
        </p:nvSpPr>
        <p:spPr>
          <a:xfrm>
            <a:off x="739506" y="4709608"/>
            <a:ext cx="10992729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dirty="0">
                <a:solidFill>
                  <a:srgbClr val="5C5C58"/>
                </a:solidFill>
                <a:latin typeface="Calibri"/>
              </a:rPr>
              <a:t>•  2012 —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começou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com R$4.500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emprestados</a:t>
            </a:r>
            <a:r>
              <a:rPr sz="1100" dirty="0">
                <a:solidFill>
                  <a:srgbClr val="5C5C58"/>
                </a:solidFill>
                <a:latin typeface="Calibri"/>
              </a:rPr>
              <a:t>,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sociedade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de 2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pessoas</a:t>
            </a:r>
            <a:r>
              <a:rPr sz="1100" dirty="0">
                <a:solidFill>
                  <a:srgbClr val="5C5C58"/>
                </a:solidFill>
                <a:latin typeface="Calibri"/>
              </a:rPr>
              <a:t>,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vendendo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no Mercado Livre</a:t>
            </a:r>
          </a:p>
          <a:p>
            <a:pPr>
              <a:spcAft>
                <a:spcPts val="1000"/>
              </a:spcAft>
            </a:pPr>
            <a:r>
              <a:rPr sz="1100" dirty="0">
                <a:solidFill>
                  <a:srgbClr val="5C5C58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Fabricação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própria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desde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cedo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—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controle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de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margem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e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qualidade</a:t>
            </a:r>
            <a:endParaRPr sz="1100" dirty="0">
              <a:solidFill>
                <a:srgbClr val="5C5C58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100" dirty="0">
                <a:solidFill>
                  <a:srgbClr val="5C5C58"/>
                </a:solidFill>
                <a:latin typeface="Calibri"/>
              </a:rPr>
              <a:t>•  2014 —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apostou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pesado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em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marketing de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influência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(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parceria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ativa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até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hoje</a:t>
            </a:r>
            <a:r>
              <a:rPr sz="1100" dirty="0">
                <a:solidFill>
                  <a:srgbClr val="5C5C58"/>
                </a:solidFill>
                <a:latin typeface="Calibri"/>
              </a:rPr>
              <a:t>)</a:t>
            </a:r>
          </a:p>
          <a:p>
            <a:pPr>
              <a:spcAft>
                <a:spcPts val="1000"/>
              </a:spcAft>
            </a:pPr>
            <a:r>
              <a:rPr sz="1100" dirty="0">
                <a:solidFill>
                  <a:srgbClr val="5C5C58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Hoje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—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uma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das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maiores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marcas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de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moda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fitness do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Brasil</a:t>
            </a:r>
            <a:r>
              <a:rPr sz="1100" dirty="0">
                <a:solidFill>
                  <a:srgbClr val="5C5C58"/>
                </a:solidFill>
                <a:latin typeface="Calibri"/>
              </a:rPr>
              <a:t>, +3 mil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modelos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ativos</a:t>
            </a:r>
            <a:endParaRPr sz="1100" dirty="0">
              <a:solidFill>
                <a:srgbClr val="5C5C58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100" dirty="0">
                <a:solidFill>
                  <a:srgbClr val="5C5C58"/>
                </a:solidFill>
                <a:latin typeface="Calibri"/>
              </a:rPr>
              <a:t>•  Agora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avalia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entrada no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varejo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físico</a:t>
            </a:r>
            <a:r>
              <a:rPr sz="1100" dirty="0">
                <a:solidFill>
                  <a:srgbClr val="5C5C58"/>
                </a:solidFill>
                <a:latin typeface="Calibri"/>
              </a:rPr>
              <a:t>,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depois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de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anos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5C5C58"/>
                </a:solidFill>
                <a:latin typeface="Calibri"/>
              </a:rPr>
              <a:t>só</a:t>
            </a:r>
            <a:r>
              <a:rPr sz="1100" dirty="0">
                <a:solidFill>
                  <a:srgbClr val="5C5C58"/>
                </a:solidFill>
                <a:latin typeface="Calibri"/>
              </a:rPr>
              <a:t> digital</a:t>
            </a: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14DB9A37-34FD-4373-C01A-06082DBBBCE1}"/>
              </a:ext>
            </a:extLst>
          </p:cNvPr>
          <p:cNvSpPr/>
          <p:nvPr/>
        </p:nvSpPr>
        <p:spPr>
          <a:xfrm>
            <a:off x="7758035" y="4932527"/>
            <a:ext cx="4050792" cy="1005840"/>
          </a:xfrm>
          <a:prstGeom prst="rect">
            <a:avLst/>
          </a:prstGeom>
          <a:solidFill>
            <a:srgbClr val="E8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/>
            <a:r>
              <a:rPr sz="1100" b="1" dirty="0" err="1">
                <a:solidFill>
                  <a:srgbClr val="9E3B2E"/>
                </a:solidFill>
                <a:latin typeface="Calibri"/>
              </a:rPr>
              <a:t>Paralelo</a:t>
            </a:r>
            <a:r>
              <a:rPr sz="1100" b="1" dirty="0">
                <a:solidFill>
                  <a:srgbClr val="9E3B2E"/>
                </a:solidFill>
                <a:latin typeface="Calibri"/>
              </a:rPr>
              <a:t> com a Kabak: </a:t>
            </a:r>
            <a:r>
              <a:rPr sz="1100" b="1" dirty="0" err="1">
                <a:solidFill>
                  <a:srgbClr val="9E3B2E"/>
                </a:solidFill>
                <a:latin typeface="Calibri"/>
              </a:rPr>
              <a:t>sociedade</a:t>
            </a:r>
            <a:r>
              <a:rPr sz="1100" b="1" dirty="0">
                <a:solidFill>
                  <a:srgbClr val="9E3B2E"/>
                </a:solidFill>
                <a:latin typeface="Calibri"/>
              </a:rPr>
              <a:t>, </a:t>
            </a:r>
            <a:r>
              <a:rPr sz="1100" b="1" dirty="0" err="1">
                <a:solidFill>
                  <a:srgbClr val="9E3B2E"/>
                </a:solidFill>
                <a:latin typeface="Calibri"/>
              </a:rPr>
              <a:t>fabricação</a:t>
            </a:r>
            <a:r>
              <a:rPr sz="1100" b="1" dirty="0">
                <a:solidFill>
                  <a:srgbClr val="9E3B2E"/>
                </a:solidFill>
                <a:latin typeface="Calibri"/>
              </a:rPr>
              <a:t> </a:t>
            </a:r>
            <a:r>
              <a:rPr sz="1100" b="1" dirty="0" err="1">
                <a:solidFill>
                  <a:srgbClr val="9E3B2E"/>
                </a:solidFill>
                <a:latin typeface="Calibri"/>
              </a:rPr>
              <a:t>própria</a:t>
            </a:r>
            <a:r>
              <a:rPr sz="1100" b="1" dirty="0">
                <a:solidFill>
                  <a:srgbClr val="9E3B2E"/>
                </a:solidFill>
                <a:latin typeface="Calibri"/>
              </a:rPr>
              <a:t> e, agora, a </a:t>
            </a:r>
            <a:r>
              <a:rPr sz="1100" b="1" dirty="0" err="1">
                <a:solidFill>
                  <a:srgbClr val="9E3B2E"/>
                </a:solidFill>
                <a:latin typeface="Calibri"/>
              </a:rPr>
              <a:t>mesma</a:t>
            </a:r>
            <a:r>
              <a:rPr sz="1100" b="1" dirty="0">
                <a:solidFill>
                  <a:srgbClr val="9E3B2E"/>
                </a:solidFill>
                <a:latin typeface="Calibri"/>
              </a:rPr>
              <a:t> </a:t>
            </a:r>
            <a:r>
              <a:rPr sz="1100" b="1" dirty="0" err="1">
                <a:solidFill>
                  <a:srgbClr val="9E3B2E"/>
                </a:solidFill>
                <a:latin typeface="Calibri"/>
              </a:rPr>
              <a:t>decisão</a:t>
            </a:r>
            <a:r>
              <a:rPr sz="1100" b="1" dirty="0">
                <a:solidFill>
                  <a:srgbClr val="9E3B2E"/>
                </a:solidFill>
                <a:latin typeface="Calibri"/>
              </a:rPr>
              <a:t> — </a:t>
            </a:r>
            <a:r>
              <a:rPr sz="1100" b="1" dirty="0" err="1">
                <a:solidFill>
                  <a:srgbClr val="9E3B2E"/>
                </a:solidFill>
                <a:latin typeface="Calibri"/>
              </a:rPr>
              <a:t>entrar</a:t>
            </a:r>
            <a:r>
              <a:rPr sz="1100" b="1" dirty="0">
                <a:solidFill>
                  <a:srgbClr val="9E3B2E"/>
                </a:solidFill>
                <a:latin typeface="Calibri"/>
              </a:rPr>
              <a:t> no </a:t>
            </a:r>
            <a:r>
              <a:rPr sz="1100" b="1" dirty="0" err="1">
                <a:solidFill>
                  <a:srgbClr val="9E3B2E"/>
                </a:solidFill>
                <a:latin typeface="Calibri"/>
              </a:rPr>
              <a:t>físico</a:t>
            </a:r>
            <a:r>
              <a:rPr sz="1100" b="1" dirty="0">
                <a:solidFill>
                  <a:srgbClr val="9E3B2E"/>
                </a:solidFill>
                <a:latin typeface="Calibri"/>
              </a:rPr>
              <a:t>.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36A9D9AA-89B2-E472-07D9-6C47D49F3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253" y="910085"/>
            <a:ext cx="7866318" cy="37361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Investimento em marketing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Kabak hoje x benchmark de mercado — a preencher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E7E5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85800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atual Kabak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3852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 preencher]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60520" y="155448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E7E5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4297680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consolidadas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93852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6% a 12%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772400" y="155448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7E5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7909560" y="1664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em crescimento / B2C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9385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717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 a 20%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valor atual investido com agência(s)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KABAK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 e próximos passos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457200" cy="54864"/>
          </a:xfrm>
          <a:prstGeom prst="rect">
            <a:avLst/>
          </a:prstGeom>
          <a:solidFill>
            <a:srgbClr val="9E3B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9601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2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entrada da sociedade também nas 3 lojas físicas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2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necessário — a preencher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2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projetado com base na meta consolidada — a preencher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2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 — a preencher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33272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1332</Words>
  <Application>Microsoft Office PowerPoint</Application>
  <PresentationFormat>Personalizar</PresentationFormat>
  <Paragraphs>273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Eduarda França de Carvalho Bou Karim - ABIHPEC</cp:lastModifiedBy>
  <cp:revision>4</cp:revision>
  <dcterms:created xsi:type="dcterms:W3CDTF">2026-09-14T02:36:18Z</dcterms:created>
  <dcterms:modified xsi:type="dcterms:W3CDTF">2026-09-14T15:22:22Z</dcterms:modified>
</cp:coreProperties>
</file>